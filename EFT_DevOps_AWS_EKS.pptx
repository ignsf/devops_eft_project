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657600" cy="3657600"/>
          </a:xfrm>
          <a:prstGeom prst="ellipse">
            <a:avLst/>
          </a:prstGeom>
          <a:solidFill>
            <a:srgbClr val="FF9900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· AWS · EKS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DevOps de Alta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Disponibilidad y CI/CD en AWS EKS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7033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Final Transversal · Introducción a Herramientas DevOps (ISY1101)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68680" y="4343400"/>
            <a:ext cx="0" cy="82296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4343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Presentador: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Ignacio Salazar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46634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AWS: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571617431105  ·  Región us-east-1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4983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Institución: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Duoc UC · 2026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65196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ISY1101 · Evaluación Final Transversal · DevOps AWS EKS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de la Solución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multicapa desplegada en AWS EKS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965960" cy="1737360"/>
          </a:xfrm>
          <a:prstGeom prst="roundRect">
            <a:avLst>
              <a:gd name="adj" fmla="val 4211"/>
            </a:avLst>
          </a:prstGeom>
          <a:solidFill>
            <a:srgbClr val="F0F4FC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03020" y="21488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30302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333756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633472" y="2706624"/>
            <a:ext cx="265176" cy="164592"/>
          </a:xfrm>
          <a:prstGeom prst="rightArrow">
            <a:avLst/>
          </a:prstGeom>
          <a:solidFill>
            <a:srgbClr val="5B6472"/>
          </a:solidFill>
          <a:ln/>
        </p:spPr>
      </p:sp>
      <p:sp>
        <p:nvSpPr>
          <p:cNvPr id="10" name="Shape 8"/>
          <p:cNvSpPr/>
          <p:nvPr/>
        </p:nvSpPr>
        <p:spPr>
          <a:xfrm>
            <a:off x="2926080" y="1920240"/>
            <a:ext cx="1965960" cy="1737360"/>
          </a:xfrm>
          <a:prstGeom prst="roundRect">
            <a:avLst>
              <a:gd name="adj" fmla="val 4211"/>
            </a:avLst>
          </a:prstGeom>
          <a:solidFill>
            <a:srgbClr val="F0F4FC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89020" y="21488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358902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26080" y="28803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LoadBalancer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926080" y="333756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Subred pública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919472" y="2706624"/>
            <a:ext cx="265176" cy="164592"/>
          </a:xfrm>
          <a:prstGeom prst="rightArrow">
            <a:avLst/>
          </a:prstGeom>
          <a:solidFill>
            <a:srgbClr val="5B6472"/>
          </a:solidFill>
          <a:ln/>
        </p:spPr>
      </p:sp>
      <p:sp>
        <p:nvSpPr>
          <p:cNvPr id="16" name="Shape 14"/>
          <p:cNvSpPr/>
          <p:nvPr/>
        </p:nvSpPr>
        <p:spPr>
          <a:xfrm>
            <a:off x="5212080" y="1920240"/>
            <a:ext cx="1965960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75020" y="2148840"/>
            <a:ext cx="640080" cy="64008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8" name="Text 16"/>
          <p:cNvSpPr/>
          <p:nvPr/>
        </p:nvSpPr>
        <p:spPr>
          <a:xfrm>
            <a:off x="587502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12080" y="28803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212080" y="333756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Subred privada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205472" y="2706624"/>
            <a:ext cx="265176" cy="164592"/>
          </a:xfrm>
          <a:prstGeom prst="rightArrow">
            <a:avLst/>
          </a:prstGeom>
          <a:solidFill>
            <a:srgbClr val="5B6472"/>
          </a:solidFill>
          <a:ln/>
        </p:spPr>
      </p:sp>
      <p:sp>
        <p:nvSpPr>
          <p:cNvPr id="22" name="Shape 20"/>
          <p:cNvSpPr/>
          <p:nvPr/>
        </p:nvSpPr>
        <p:spPr>
          <a:xfrm>
            <a:off x="7498080" y="1920240"/>
            <a:ext cx="1965960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161020" y="2148840"/>
            <a:ext cx="640080" cy="64008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4" name="Text 22"/>
          <p:cNvSpPr/>
          <p:nvPr/>
        </p:nvSpPr>
        <p:spPr>
          <a:xfrm>
            <a:off x="816102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498080" y="28803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API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498080" y="333756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Subred privada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491472" y="2706624"/>
            <a:ext cx="265176" cy="164592"/>
          </a:xfrm>
          <a:prstGeom prst="rightArrow">
            <a:avLst/>
          </a:prstGeom>
          <a:solidFill>
            <a:srgbClr val="5B6472"/>
          </a:solidFill>
          <a:ln/>
        </p:spPr>
      </p:sp>
      <p:sp>
        <p:nvSpPr>
          <p:cNvPr id="28" name="Shape 26"/>
          <p:cNvSpPr/>
          <p:nvPr/>
        </p:nvSpPr>
        <p:spPr>
          <a:xfrm>
            <a:off x="9784080" y="1920240"/>
            <a:ext cx="1965960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447020" y="2148840"/>
            <a:ext cx="640080" cy="64008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30" name="Text 28"/>
          <p:cNvSpPr/>
          <p:nvPr/>
        </p:nvSpPr>
        <p:spPr>
          <a:xfrm>
            <a:off x="1044702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784080" y="28803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784080" y="333756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Subred privada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40080" y="411480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Separación de redes: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tráfico externo ingresa por subredes públicas (Ingress/NAT); la lógica de negocio y los datos permanecen aislados en subredes privadas dentro de la VPC.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640080" y="5074920"/>
            <a:ext cx="3383280" cy="1234440"/>
          </a:xfrm>
          <a:prstGeom prst="roundRect">
            <a:avLst>
              <a:gd name="adj" fmla="val 4444"/>
            </a:avLst>
          </a:prstGeom>
          <a:solidFill>
            <a:srgbClr val="F0F4FC"/>
          </a:solidFill>
          <a:ln/>
        </p:spPr>
      </p:sp>
      <p:sp>
        <p:nvSpPr>
          <p:cNvPr id="35" name="Text 33"/>
          <p:cNvSpPr/>
          <p:nvPr/>
        </p:nvSpPr>
        <p:spPr>
          <a:xfrm>
            <a:off x="822960" y="519379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22960" y="5504688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síncrona Frontend → Backend → PostgreSQL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251960" y="5074920"/>
            <a:ext cx="3383280" cy="1234440"/>
          </a:xfrm>
          <a:prstGeom prst="roundRect">
            <a:avLst>
              <a:gd name="adj" fmla="val 4444"/>
            </a:avLst>
          </a:prstGeom>
          <a:solidFill>
            <a:srgbClr val="F0F4FC"/>
          </a:solidFill>
          <a:ln/>
        </p:spPr>
      </p:sp>
      <p:sp>
        <p:nvSpPr>
          <p:cNvPr id="38" name="Text 36"/>
          <p:cNvSpPr/>
          <p:nvPr/>
        </p:nvSpPr>
        <p:spPr>
          <a:xfrm>
            <a:off x="4434840" y="519379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Aislamiento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434840" y="5504688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capas (presentación, negocio, datos) en redes separadas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863840" y="5074920"/>
            <a:ext cx="3383280" cy="1234440"/>
          </a:xfrm>
          <a:prstGeom prst="roundRect">
            <a:avLst>
              <a:gd name="adj" fmla="val 4444"/>
            </a:avLst>
          </a:prstGeom>
          <a:solidFill>
            <a:srgbClr val="F0F4FC"/>
          </a:solidFill>
          <a:ln/>
        </p:spPr>
      </p:sp>
      <p:sp>
        <p:nvSpPr>
          <p:cNvPr id="41" name="Text 39"/>
          <p:cNvSpPr/>
          <p:nvPr/>
        </p:nvSpPr>
        <p:spPr>
          <a:xfrm>
            <a:off x="8046720" y="519379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046720" y="5504688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Multi-AZ con balanceo automático de tráfico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57200" y="65196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ISY1101 · Evaluación Final Transversal · DevOps AWS EKS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43000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Contenerización con Docker (IE2)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Dockerfiles multietapa + orquestación local con Docker Compose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417320" y="1828800"/>
            <a:ext cx="9418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— node:20-alpine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2167128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multietapa, pruebas unitarias Jest durante el build y hardening con usuario no privilegiado USER node.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8346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834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17320" y="2788920"/>
            <a:ext cx="9418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— nginx:1.25-alpine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17320" y="3127248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minimalista; Nginx configurado como reverse proxy hacia el backend.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7947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794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17320" y="3749040"/>
            <a:ext cx="9418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17320" y="4087368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 los 3 servicios (frontend, backend, db) en la red interna devops_internal_network.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892040"/>
            <a:ext cx="10881360" cy="1417320"/>
          </a:xfrm>
          <a:prstGeom prst="roundRect">
            <a:avLst>
              <a:gd name="adj" fmla="val 3871"/>
            </a:avLst>
          </a:prstGeom>
          <a:solidFill>
            <a:srgbClr val="141B4D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5029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— docker-compose ps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5321808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devops_backend_api   Up (healthy)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devops_frontend_web  Up (healthy)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devops_postgres_db   Up (healthy)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5196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ISY1101 · Evaluación Final Transversal · DevOps AWS EKS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Infraestructura de Red en AWS (IE4)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Multi-AZ con separación de subredes públicas y privadas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020824"/>
            <a:ext cx="73152" cy="36576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65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68680" y="222199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devops-eks-vpc (vpc-07772e6a...)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2679192"/>
            <a:ext cx="73152" cy="36576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6243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68680" y="28803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172.31.0.0/16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337560"/>
            <a:ext cx="73152" cy="36576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28269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Zonas de disponibilidad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68680" y="353872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AZ (us-east-1a / us-east-1b)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995928"/>
            <a:ext cx="73152" cy="36576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94106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Subredes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4197096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públicas + 2 privadas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654296"/>
            <a:ext cx="73152" cy="36576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5994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68680" y="485546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Gateway + NAT Gateway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760720" y="1920240"/>
            <a:ext cx="5760720" cy="4206240"/>
          </a:xfrm>
          <a:prstGeom prst="roundRect">
            <a:avLst>
              <a:gd name="adj" fmla="val 1739"/>
            </a:avLst>
          </a:prstGeom>
          <a:solidFill>
            <a:srgbClr val="F0F4FC"/>
          </a:solidFill>
          <a:ln w="19050">
            <a:solidFill>
              <a:srgbClr val="1E2761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5943600" y="2029968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devops-eks-vpc — 172.31.0.0/16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43600" y="2423160"/>
            <a:ext cx="251460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80760" y="25603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Subred Pública 1a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080760" y="310896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 / NAT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641080" y="2423160"/>
            <a:ext cx="251460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78240" y="25603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Subred Pública 1b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778240" y="310896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 / NAT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943600" y="4206240"/>
            <a:ext cx="2514600" cy="1600200"/>
          </a:xfrm>
          <a:prstGeom prst="roundRect">
            <a:avLst>
              <a:gd name="adj" fmla="val 3429"/>
            </a:avLst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80760" y="43434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Subred Privada 1a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080760" y="489204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Nodes / DB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641080" y="4206240"/>
            <a:ext cx="2514600" cy="1600200"/>
          </a:xfrm>
          <a:prstGeom prst="roundRect">
            <a:avLst>
              <a:gd name="adj" fmla="val 3429"/>
            </a:avLst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778240" y="43434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Subred Privada 1b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778240" y="489204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Nodes / DB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65196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ISY1101 · Evaluación Final Transversal · DevOps AWS EKS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43000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Grupos de Seguridad y Filtrado de Tráfico (IE4)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entrada mínimas y restrictivas por componente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349240" cy="3291840"/>
          </a:xfrm>
          <a:prstGeom prst="roundRect">
            <a:avLst>
              <a:gd name="adj" fmla="val 2222"/>
            </a:avLst>
          </a:prstGeom>
          <a:solidFill>
            <a:srgbClr val="F0F4FC"/>
          </a:solidFill>
          <a:ln/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54480" y="221284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devops-eks-workers-sg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54480" y="25146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sg-0289686b9df8f66b4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14400" y="3136392"/>
            <a:ext cx="82296" cy="82296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063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· 80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14400" y="3593592"/>
            <a:ext cx="82296" cy="82296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3520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· 443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14400" y="4050792"/>
            <a:ext cx="82296" cy="82296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3977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5432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14400" y="4507992"/>
            <a:ext cx="82296" cy="82296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4434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Interno clúster · 10.0.0.0/16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63640" y="1920240"/>
            <a:ext cx="5349240" cy="3291840"/>
          </a:xfrm>
          <a:prstGeom prst="roundRect">
            <a:avLst>
              <a:gd name="adj" fmla="val 2222"/>
            </a:avLst>
          </a:prstGeom>
          <a:solidFill>
            <a:srgbClr val="F0F4FC"/>
          </a:solidFill>
          <a:ln/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37960" y="21945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178040" y="221284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devops-eks-cluster-sg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178040" y="25146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sg-0cdefee98e5f938b6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537960" y="3136392"/>
            <a:ext cx="82296" cy="82296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3" name="Text 21"/>
          <p:cNvSpPr/>
          <p:nvPr/>
        </p:nvSpPr>
        <p:spPr>
          <a:xfrm>
            <a:off x="6766560" y="3063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Kubernetes (control plane)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537960" y="3593592"/>
            <a:ext cx="82296" cy="82296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5" name="Text 23"/>
          <p:cNvSpPr/>
          <p:nvPr/>
        </p:nvSpPr>
        <p:spPr>
          <a:xfrm>
            <a:off x="6766560" y="3520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restringido a nodos worker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0080" y="54864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 de mínimo privilegio: </a:t>
            </a:r>
            <a:pPr indent="0" marL="0">
              <a:buNone/>
            </a:pPr>
            <a:r>
              <a:rPr lang="en-US" sz="13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se exponen los puertos estrictamente necesarios para cada capa de la aplicación.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65196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ISY1101 · Evaluación Final Transversal · DevOps AWS EKS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43000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de CI/CD en GitHub Actions (IE3)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etapas automatizadas en cada commit a main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3291840" cy="2377440"/>
          </a:xfrm>
          <a:prstGeom prst="roundRect">
            <a:avLst>
              <a:gd name="adj" fmla="val 3846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2103120" y="2423160"/>
            <a:ext cx="731520" cy="7315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6" name="Text 4"/>
          <p:cNvSpPr/>
          <p:nvPr/>
        </p:nvSpPr>
        <p:spPr>
          <a:xfrm>
            <a:off x="2103120" y="2423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33375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374904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 de pruebas unitarias Jest — 4/4 aprobadas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60520" y="3182112"/>
            <a:ext cx="411480" cy="219456"/>
          </a:xfrm>
          <a:prstGeom prst="rightArrow">
            <a:avLst/>
          </a:prstGeom>
          <a:solidFill>
            <a:srgbClr val="FF9900"/>
          </a:solidFill>
          <a:ln/>
        </p:spPr>
      </p:sp>
      <p:sp>
        <p:nvSpPr>
          <p:cNvPr id="10" name="Shape 8"/>
          <p:cNvSpPr/>
          <p:nvPr/>
        </p:nvSpPr>
        <p:spPr>
          <a:xfrm>
            <a:off x="4617720" y="2103120"/>
            <a:ext cx="3291840" cy="2377440"/>
          </a:xfrm>
          <a:prstGeom prst="roundRect">
            <a:avLst>
              <a:gd name="adj" fmla="val 3846"/>
            </a:avLst>
          </a:prstGeom>
          <a:solidFill>
            <a:srgbClr val="1E2761"/>
          </a:solidFill>
          <a:ln/>
        </p:spPr>
      </p:sp>
      <p:sp>
        <p:nvSpPr>
          <p:cNvPr id="11" name="Shape 9"/>
          <p:cNvSpPr/>
          <p:nvPr/>
        </p:nvSpPr>
        <p:spPr>
          <a:xfrm>
            <a:off x="5897880" y="2423160"/>
            <a:ext cx="731520" cy="7315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2" name="Text 10"/>
          <p:cNvSpPr/>
          <p:nvPr/>
        </p:nvSpPr>
        <p:spPr>
          <a:xfrm>
            <a:off x="5897880" y="2423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17720" y="33375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Push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46320" y="374904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Docker multietapa y push a Amazon ECR (tags latest / vN)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955280" y="3182112"/>
            <a:ext cx="411480" cy="219456"/>
          </a:xfrm>
          <a:prstGeom prst="rightArrow">
            <a:avLst/>
          </a:prstGeom>
          <a:solidFill>
            <a:srgbClr val="FF9900"/>
          </a:solidFill>
          <a:ln/>
        </p:spPr>
      </p:sp>
      <p:sp>
        <p:nvSpPr>
          <p:cNvPr id="16" name="Shape 14"/>
          <p:cNvSpPr/>
          <p:nvPr/>
        </p:nvSpPr>
        <p:spPr>
          <a:xfrm>
            <a:off x="8412480" y="2103120"/>
            <a:ext cx="3291840" cy="2377440"/>
          </a:xfrm>
          <a:prstGeom prst="roundRect">
            <a:avLst>
              <a:gd name="adj" fmla="val 3846"/>
            </a:avLst>
          </a:prstGeom>
          <a:solidFill>
            <a:srgbClr val="1E2761"/>
          </a:solidFill>
          <a:ln/>
        </p:spPr>
      </p:sp>
      <p:sp>
        <p:nvSpPr>
          <p:cNvPr id="17" name="Shape 15"/>
          <p:cNvSpPr/>
          <p:nvPr/>
        </p:nvSpPr>
        <p:spPr>
          <a:xfrm>
            <a:off x="9692640" y="2423160"/>
            <a:ext cx="731520" cy="7315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8" name="Text 16"/>
          <p:cNvSpPr/>
          <p:nvPr/>
        </p:nvSpPr>
        <p:spPr>
          <a:xfrm>
            <a:off x="9692640" y="2423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412480" y="33375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41080" y="374904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Credenciales AWS IAM temporales + kubectl rollout restart en EKS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22960" y="48920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Secretos gestionados en GitHub Secrets: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AWS_ACCESS_KEY_ID, AWS_SECRET_ACCESS_KEY, AWS_SESSION_TOKEN, ECR_BACKEND_REPOSITORY, ECR_FRONTEND_REPOSITORY.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22960" y="54864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ejecuciones (Evidencia 13): builds y despliegues exitosos y trazables en GitHub Actions.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5196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ISY1101 · Evaluación Final Transversal · DevOps AWS EKS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Registro de Imágenes en Amazon ECR (IE3)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Publicación y trazabilidad de imágenes Docker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F0F4FC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2402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54480" y="226771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devops-backend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54480" y="2587752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571617431105.dkr.ecr.us-east-1.amazonaws.com/devops-backend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554480" y="32461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Cifrado AES-256 · etiquetado mutable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63640" y="196596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F0F4FC"/>
          </a:solidFill>
          <a:ln/>
        </p:spPr>
      </p:sp>
      <p:sp>
        <p:nvSpPr>
          <p:cNvPr id="11" name="Shape 9"/>
          <p:cNvSpPr/>
          <p:nvPr/>
        </p:nvSpPr>
        <p:spPr>
          <a:xfrm>
            <a:off x="6537960" y="22402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178040" y="226771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devops-frontend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178040" y="2587752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571617431105.dkr.ecr.us-east-1.amazonaws.com/devops-frontend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178040" y="32461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Cifrado AES-256 · etiquetado mutable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4114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publicación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4572000"/>
            <a:ext cx="2331720" cy="594360"/>
          </a:xfrm>
          <a:prstGeom prst="roundRect">
            <a:avLst>
              <a:gd name="adj" fmla="val 46154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57200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imagen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017520" y="4791456"/>
            <a:ext cx="274320" cy="155448"/>
          </a:xfrm>
          <a:prstGeom prst="rightArrow">
            <a:avLst/>
          </a:prstGeom>
          <a:solidFill>
            <a:srgbClr val="FF9900"/>
          </a:solidFill>
          <a:ln/>
        </p:spPr>
      </p:sp>
      <p:sp>
        <p:nvSpPr>
          <p:cNvPr id="20" name="Shape 18"/>
          <p:cNvSpPr/>
          <p:nvPr/>
        </p:nvSpPr>
        <p:spPr>
          <a:xfrm>
            <a:off x="3291840" y="4572000"/>
            <a:ext cx="2331720" cy="594360"/>
          </a:xfrm>
          <a:prstGeom prst="roundRect">
            <a:avLst>
              <a:gd name="adj" fmla="val 46154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3291840" y="457200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latest / v{run}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0" y="4791456"/>
            <a:ext cx="274320" cy="155448"/>
          </a:xfrm>
          <a:prstGeom prst="rightArrow">
            <a:avLst/>
          </a:prstGeom>
          <a:solidFill>
            <a:srgbClr val="FF9900"/>
          </a:solidFill>
          <a:ln/>
        </p:spPr>
      </p:sp>
      <p:sp>
        <p:nvSpPr>
          <p:cNvPr id="23" name="Shape 21"/>
          <p:cNvSpPr/>
          <p:nvPr/>
        </p:nvSpPr>
        <p:spPr>
          <a:xfrm>
            <a:off x="5943600" y="4572000"/>
            <a:ext cx="2331720" cy="594360"/>
          </a:xfrm>
          <a:prstGeom prst="roundRect">
            <a:avLst>
              <a:gd name="adj" fmla="val 46154"/>
            </a:avLst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0" y="457200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ECR (IAM)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321040" y="4791456"/>
            <a:ext cx="274320" cy="155448"/>
          </a:xfrm>
          <a:prstGeom prst="rightArrow">
            <a:avLst/>
          </a:prstGeom>
          <a:solidFill>
            <a:srgbClr val="FF9900"/>
          </a:solidFill>
          <a:ln/>
        </p:spPr>
      </p:sp>
      <p:sp>
        <p:nvSpPr>
          <p:cNvPr id="26" name="Shape 24"/>
          <p:cNvSpPr/>
          <p:nvPr/>
        </p:nvSpPr>
        <p:spPr>
          <a:xfrm>
            <a:off x="8595360" y="4572000"/>
            <a:ext cx="2331720" cy="594360"/>
          </a:xfrm>
          <a:prstGeom prst="roundRect">
            <a:avLst>
              <a:gd name="adj" fmla="val 46154"/>
            </a:avLst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8595360" y="457200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push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55778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Trazabilidad: </a:t>
            </a:r>
            <a:pPr indent="0" marL="0">
              <a:buNone/>
            </a:pPr>
            <a:r>
              <a:rPr lang="en-US" sz="12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imagen queda versionada con el número de build de GitHub Actions, permitiendo rollback controlado.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7200" y="65196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ISY1101 · Evaluación Final Transversal · DevOps AWS EKS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43000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Orquestación con Amazon EKS (IE4)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Clúster de Kubernetes gestionado en producción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749040" cy="1051560"/>
          </a:xfrm>
          <a:prstGeom prst="roundRect">
            <a:avLst>
              <a:gd name="adj" fmla="val 5217"/>
            </a:avLst>
          </a:prstGeom>
          <a:solidFill>
            <a:srgbClr val="F0F4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574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1.36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258775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Kubernetes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3200400"/>
            <a:ext cx="3749040" cy="1051560"/>
          </a:xfrm>
          <a:prstGeom prst="roundRect">
            <a:avLst>
              <a:gd name="adj" fmla="val 5217"/>
            </a:avLst>
          </a:prstGeom>
          <a:solidFill>
            <a:srgbClr val="F0F4FC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29184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22960" y="382219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del clúster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4434840"/>
            <a:ext cx="3749040" cy="1051560"/>
          </a:xfrm>
          <a:prstGeom prst="roundRect">
            <a:avLst>
              <a:gd name="adj" fmla="val 5217"/>
            </a:avLst>
          </a:prstGeom>
          <a:solidFill>
            <a:srgbClr val="F0F4F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5262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LabRole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22960" y="505663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 IAM asociado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09160" y="1965960"/>
            <a:ext cx="6812280" cy="3977640"/>
          </a:xfrm>
          <a:prstGeom prst="roundRect">
            <a:avLst>
              <a:gd name="adj" fmla="val 1839"/>
            </a:avLst>
          </a:prstGeom>
          <a:solidFill>
            <a:srgbClr val="141B4D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21488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get pods,svc,hpa -o wide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937760" y="2514600"/>
            <a:ext cx="63093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pod/frontend-xxxx     1/1  Running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pod/backend-xxxx      1/1  Running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pod/postgres-xxxx     1/1  Running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svc/frontend  LoadBalancer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a327f7de08...elb.us-east-1.amazonaws.com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svc/postgres  ClusterIP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37760" y="5074920"/>
            <a:ext cx="6309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Deployments con reinicio automático · Service LoadBalancer con URL pública DNS de AWS.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65196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ISY1101 · Evaluación Final Transversal · DevOps AWS EKS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Verificación del Sistema en Producción (IE5)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Frontend, backend y base de datos funcionando end-to-end en EKS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F0F4FC"/>
          </a:solidFill>
          <a:ln/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34540" y="22402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2034540" y="2240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Frontend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520440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desplegada y accesible vía LoadBalancer, conectada a backend y base de datos.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196596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F0F4FC"/>
          </a:solidFill>
          <a:ln/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737860" y="22402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737860" y="2240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26280" y="30175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 PostgreSQL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3520440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Auto-inicialización de tablas y lectura/escritura de tareas de infraestructura en tiempo real.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196596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F0F4FC"/>
          </a:solidFill>
          <a:ln/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441180" y="22402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9441180" y="2240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0" y="30175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 continuo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75320" y="3520440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estable, sin caídas, con uptime registrado de 1271s en la última verificación.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" y="580644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 pública: </a:t>
            </a:r>
            <a:pPr indent="0" marL="0">
              <a:buNone/>
            </a:pPr>
            <a:r>
              <a:rPr lang="en-US" sz="1100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a327f7de08cdf447cab8a537b5c9a94e-6ca999fe6ab81d5e.elb.us-east-1.amazonaws.com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65196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ISY1101 · Evaluación Final Transversal · DevOps AWS EKS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Observabilidad y Métricas (IE5)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de métricas del backend expuesto en /api/metrics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120640" cy="3794760"/>
          </a:xfrm>
          <a:prstGeom prst="roundRect">
            <a:avLst>
              <a:gd name="adj" fmla="val 1928"/>
            </a:avLst>
          </a:prstGeom>
          <a:solidFill>
            <a:srgbClr val="141B4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94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/api/metrics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606040"/>
            <a:ext cx="45720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"uptime": "1271s",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"memory": {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"rss": "84.2 MB",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"heapUsed": "41.6 MB"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"status": "healthy"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35040" y="201168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035040" y="2011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29400" y="19659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 en tiempo real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629400" y="2304288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activo del proceso Node.js Express desde el último despliegue.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35040" y="3218688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035040" y="32186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29400" y="317296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 de memoria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629400" y="3511296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 memoria RSS y Heap del servidor para monitoreo de recursos.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35040" y="4425696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035040" y="442569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29400" y="4379976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de pipeline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629400" y="4718304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ejecuciones de GitHub Actions con logs de cada etapa (test, build, deploy).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65196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ISY1101 · Evaluación Final Transversal · DevOps AWS EKS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Cumplimiento de la Rúbrica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de evaluación (IE1–IE5) — Dimensión Encargo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74520"/>
            <a:ext cx="822960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463040" y="1874520"/>
            <a:ext cx="4114800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577840" y="1874520"/>
            <a:ext cx="1005840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Pond.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0" y="1874520"/>
            <a:ext cx="4937760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clave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331720"/>
            <a:ext cx="10881360" cy="566928"/>
          </a:xfrm>
          <a:prstGeom prst="rect">
            <a:avLst/>
          </a:prstGeom>
          <a:solidFill>
            <a:srgbClr val="F0F4F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331720"/>
            <a:ext cx="822960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IE1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463040" y="2331720"/>
            <a:ext cx="4114800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Versiones y Arquitectura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577840" y="2331720"/>
            <a:ext cx="1005840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583680" y="2331720"/>
            <a:ext cx="4937760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ordenado, commits descriptivos, diagrama completo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2898648"/>
            <a:ext cx="1088136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898648"/>
            <a:ext cx="822960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IE2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463040" y="2898648"/>
            <a:ext cx="4114800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Contenerización para Desarrollo Local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577840" y="2898648"/>
            <a:ext cx="1005840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583680" y="2898648"/>
            <a:ext cx="4937760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Dockerfiles optimizados + Docker Compose funcional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3465576"/>
            <a:ext cx="10881360" cy="566928"/>
          </a:xfrm>
          <a:prstGeom prst="rect">
            <a:avLst/>
          </a:prstGeom>
          <a:solidFill>
            <a:srgbClr val="F0F4FC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465576"/>
            <a:ext cx="822960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463040" y="3465576"/>
            <a:ext cx="4114800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del Pipeline CI/CD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577840" y="3465576"/>
            <a:ext cx="1005840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583680" y="3465576"/>
            <a:ext cx="4937760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Actions: build, test, push a ECR y deploy automatizado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4032504"/>
            <a:ext cx="1088136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032504"/>
            <a:ext cx="822960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IE4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463040" y="4032504"/>
            <a:ext cx="4114800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y Orquestación en AWS EKS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577840" y="4032504"/>
            <a:ext cx="1005840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583680" y="4032504"/>
            <a:ext cx="4937760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Clúster activo, VPC Multi-AZ, Security Groups, LoadBalancer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0080" y="4599432"/>
            <a:ext cx="10881360" cy="566928"/>
          </a:xfrm>
          <a:prstGeom prst="rect">
            <a:avLst/>
          </a:prstGeom>
          <a:solidFill>
            <a:srgbClr val="F0F4FC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4599432"/>
            <a:ext cx="822960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IE5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463040" y="4599432"/>
            <a:ext cx="4114800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y Funcionalidad del Sistema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577840" y="4599432"/>
            <a:ext cx="1005840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583680" y="4599432"/>
            <a:ext cx="4937760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funcionales, métricas y persistencia verificadas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5196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ISY1101 · Evaluación Final Transversal · DevOps AWS EKS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43000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consolida los principios de la filosofía DevOps de extremo a extremo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212080" cy="1920240"/>
          </a:xfrm>
          <a:prstGeom prst="roundRect">
            <a:avLst>
              <a:gd name="adj" fmla="val 3810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148840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213055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completa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600200" y="2532888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y despliegue continuo sin intervención manual, de commit a producción.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874520"/>
            <a:ext cx="5212080" cy="1920240"/>
          </a:xfrm>
          <a:prstGeom prst="roundRect">
            <a:avLst>
              <a:gd name="adj" fmla="val 3810"/>
            </a:avLst>
          </a:prstGeom>
          <a:solidFill>
            <a:srgbClr val="1E2761"/>
          </a:solidFill>
          <a:ln/>
        </p:spPr>
      </p:sp>
      <p:sp>
        <p:nvSpPr>
          <p:cNvPr id="11" name="Shape 9"/>
          <p:cNvSpPr/>
          <p:nvPr/>
        </p:nvSpPr>
        <p:spPr>
          <a:xfrm>
            <a:off x="6492240" y="2148840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78040" y="213055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Zero-downtime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178040" y="2532888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updates de Kubernetes: nuevos pods se validan antes de retirar los antiguos.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4069080"/>
            <a:ext cx="5212080" cy="1920240"/>
          </a:xfrm>
          <a:prstGeom prst="roundRect">
            <a:avLst>
              <a:gd name="adj" fmla="val 3810"/>
            </a:avLst>
          </a:prstGeom>
          <a:solidFill>
            <a:srgbClr val="1E2761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4343400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343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00200" y="432511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por diseño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600200" y="4727448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de mínimo privilegio, Security Groups restrictivos y secretos cifrados.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17920" y="4069080"/>
            <a:ext cx="5212080" cy="1920240"/>
          </a:xfrm>
          <a:prstGeom prst="roundRect">
            <a:avLst>
              <a:gd name="adj" fmla="val 3810"/>
            </a:avLst>
          </a:prstGeom>
          <a:solidFill>
            <a:srgbClr val="1E2761"/>
          </a:solidFill>
          <a:ln/>
        </p:spPr>
      </p:sp>
      <p:sp>
        <p:nvSpPr>
          <p:cNvPr id="21" name="Shape 19"/>
          <p:cNvSpPr/>
          <p:nvPr/>
        </p:nvSpPr>
        <p:spPr>
          <a:xfrm>
            <a:off x="6492240" y="4343400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4343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78040" y="432511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como código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178040" y="4727448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entorno — red, clúster y pipeline — versionado y reproducible en GitHub.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" y="6080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 — quedo a disposición de la comisión evaluadora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5196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ISY1101 · Evaluación Final Transversal · DevOps AWS EKS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3000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2026-08-05T03:23:22Z</dcterms:created>
  <dcterms:modified xsi:type="dcterms:W3CDTF">2026-08-05T03:23:22Z</dcterms:modified>
</cp:coreProperties>
</file>